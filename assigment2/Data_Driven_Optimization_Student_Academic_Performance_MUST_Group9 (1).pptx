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91D7E1"/>
                </a:solidFill>
              </a:defRPr>
            </a:pPr>
            <a:r>
              <a:t>DATA-DRIVEN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Student Academic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Through Study Habits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1069848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D0DCE8"/>
                </a:solidFill>
              </a:defRPr>
            </a:pPr>
            <a:r>
              <a:rPr lang="en-US" dirty="0" err="1"/>
              <a:t>MartLabs|AI</a:t>
            </a:r>
            <a:r>
              <a:rPr lang="en-US" dirty="0"/>
              <a:t> &amp; Machine Learning</a:t>
            </a:r>
            <a:r>
              <a:rPr dirty="0"/>
              <a:t>  •  Mbeya University of Science and Technology (MUST)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D0DCE8"/>
                </a:solidFill>
              </a:defRPr>
            </a:pPr>
            <a:r>
              <a:t>Business Intelligence Analysis  •  Group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106070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>
                <a:solidFill>
                  <a:srgbClr val="B4C6D6"/>
                </a:solidFill>
              </a:defRPr>
            </a:pPr>
            <a:r>
              <a:t>Participants: Adili S. Edward  |  Joseph M. Nzije  |  Carol F. Kika  |  Frank L. Mlyakalamu  |  Athanas J. Kayombo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57800"/>
            <a:ext cx="1060704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>
                <a:solidFill>
                  <a:srgbClr val="B4C6D6"/>
                </a:solidFill>
              </a:defRPr>
            </a:pPr>
            <a:r>
              <a:rPr dirty="0"/>
              <a:t>Supervisor: [</a:t>
            </a:r>
            <a:r>
              <a:rPr dirty="0" err="1"/>
              <a:t>I</a:t>
            </a:r>
            <a:r>
              <a:rPr lang="en-US" dirty="0" err="1"/>
              <a:t>pyana</a:t>
            </a:r>
            <a:r>
              <a:rPr dirty="0"/>
              <a:t>]     •     Presentation date: [</a:t>
            </a:r>
            <a:r>
              <a:rPr lang="en-US" dirty="0"/>
              <a:t>14/08/2026</a:t>
            </a:r>
            <a:r>
              <a:rPr dirty="0"/>
              <a:t>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1CAABE"/>
                </a:solidFill>
              </a:defRPr>
            </a:pPr>
            <a:r>
              <a:t>Turning student data into actionable academic insights.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700" b="1">
                <a:solidFill>
                  <a:srgbClr val="11223A"/>
                </a:solidFill>
              </a:defRPr>
            </a:pPr>
            <a:r>
              <a:t>Introduction /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5D6A77"/>
                </a:solidFill>
              </a:defRPr>
            </a:pPr>
            <a:r>
              <a:t>Why this analysis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828800" cy="310896"/>
          </a:xfrm>
          <a:prstGeom prst="round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389888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CAABE"/>
                </a:solidFill>
              </a:defRPr>
            </a:pPr>
            <a: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100" b="1">
                <a:solidFill>
                  <a:srgbClr val="11223A"/>
                </a:solidFill>
              </a:defRPr>
            </a:pPr>
            <a:r>
              <a:t>Student performance is a measurable outcome of a complex learning environment.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22B34"/>
                </a:solidFill>
              </a:defRPr>
            </a:pPr>
            <a:r>
              <a:t>• Students exhibit different study patterns, attendance levels and learning circumstances.</a:t>
            </a:r>
          </a:p>
          <a:p>
            <a:pPr>
              <a:spcAft>
                <a:spcPts val="1000"/>
              </a:spcAft>
              <a:defRPr sz="1500">
                <a:solidFill>
                  <a:srgbClr val="222B34"/>
                </a:solidFill>
              </a:defRPr>
            </a:pPr>
            <a:r>
              <a:t>• Institutions already collect academic and behavioral information, but it is not always converted into actionable insight.</a:t>
            </a:r>
          </a:p>
          <a:p>
            <a:pPr>
              <a:spcAft>
                <a:spcPts val="1000"/>
              </a:spcAft>
              <a:defRPr sz="1500">
                <a:solidFill>
                  <a:srgbClr val="222B34"/>
                </a:solidFill>
              </a:defRPr>
            </a:pPr>
            <a:r>
              <a:t>• Data analytics can reveal patterns, compare groups and support targeted academic interventions.</a:t>
            </a:r>
          </a:p>
          <a:p>
            <a:pPr>
              <a:spcAft>
                <a:spcPts val="1000"/>
              </a:spcAft>
              <a:defRPr sz="1500">
                <a:solidFill>
                  <a:srgbClr val="222B34"/>
                </a:solidFill>
              </a:defRPr>
            </a:pPr>
            <a:r>
              <a:t>• The project therefore uses student-level data to examine factors associated with final examination performance.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08760"/>
            <a:ext cx="521208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655063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11223A"/>
                </a:solidFill>
              </a:defRPr>
            </a:pPr>
            <a:r>
              <a:t>Analytical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20" b="0">
                <a:solidFill>
                  <a:srgbClr val="222B34"/>
                </a:solidFill>
              </a:defRPr>
            </a:pPr>
            <a:r>
              <a:t>Move from general assumptions about study habits to evidence-based observations from the student dataset.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611880"/>
            <a:ext cx="521208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375818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11223A"/>
                </a:solidFill>
              </a:defRPr>
            </a:pPr>
            <a:r>
              <a:t>Decision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142232"/>
            <a:ext cx="4846320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20" b="0">
                <a:solidFill>
                  <a:srgbClr val="222B34"/>
                </a:solidFill>
              </a:defRPr>
            </a:pPr>
            <a:r>
              <a:t>Identify performance signals that can inform academic monitoring, support and resource prioritization.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6473952"/>
            <a:ext cx="10972800" cy="10972"/>
          </a:xfrm>
          <a:prstGeom prst="rect">
            <a:avLst/>
          </a:prstGeom>
          <a:solidFill>
            <a:srgbClr val="DB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>
                <a:solidFill>
                  <a:srgbClr val="5D6A77"/>
                </a:solidFill>
              </a:defRPr>
            </a:pPr>
            <a:r>
              <a:t>GROUP 9  •  Data-Driven Student Performance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51052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5D6A77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700" b="1">
                <a:solidFill>
                  <a:srgbClr val="11223A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5D6A77"/>
                </a:solidFill>
              </a:defRPr>
            </a:pPr>
            <a:r>
              <a:t>The research gap addressed by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11223A"/>
                </a:solidFill>
              </a:defRPr>
            </a:pPr>
            <a:r>
              <a:t>The core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22B34"/>
                </a:solidFill>
              </a:defRPr>
            </a:pPr>
            <a:r>
              <a:t>• Different students have different study habits and academic behaviors.</a:t>
            </a:r>
          </a:p>
          <a:p>
            <a:pPr>
              <a:spcAft>
                <a:spcPts val="1000"/>
              </a:spcAft>
              <a:defRPr sz="1600">
                <a:solidFill>
                  <a:srgbClr val="222B34"/>
                </a:solidFill>
              </a:defRPr>
            </a:pPr>
            <a:r>
              <a:t>• Some behaviors are associated with stronger or weaker academic outcomes.</a:t>
            </a:r>
          </a:p>
          <a:p>
            <a:pPr>
              <a:spcAft>
                <a:spcPts val="1000"/>
              </a:spcAft>
              <a:defRPr sz="1600">
                <a:solidFill>
                  <a:srgbClr val="222B34"/>
                </a:solidFill>
              </a:defRPr>
            </a:pPr>
            <a:r>
              <a:t>• Traditional support can miss patterns hidden across multiple student variables.</a:t>
            </a:r>
          </a:p>
          <a:p>
            <a:pPr>
              <a:spcAft>
                <a:spcPts val="1000"/>
              </a:spcAft>
              <a:defRPr sz="1600">
                <a:solidFill>
                  <a:srgbClr val="222B34"/>
                </a:solidFill>
              </a:defRPr>
            </a:pPr>
            <a:r>
              <a:t>• Without analysis, it is difficult to prioritize students and interventions using evidence.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074920" cy="3566160"/>
          </a:xfrm>
          <a:prstGeom prst="roundRect">
            <a:avLst/>
          </a:prstGeom>
          <a:solidFill>
            <a:srgbClr val="EEF5F9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874519"/>
            <a:ext cx="4526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1CAABE"/>
                </a:solidFill>
              </a:defRPr>
            </a:pPr>
            <a:r>
              <a:t>RESEARCH NEED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425196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100" b="1">
                <a:solidFill>
                  <a:srgbClr val="11223A"/>
                </a:solidFill>
              </a:defRPr>
            </a:pPr>
            <a:r>
              <a:t>Identify meaningful relationships between study habits and academic performance, then translate those findings into evidence-based support actions.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4389120"/>
            <a:ext cx="4343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2463A6"/>
                </a:solidFill>
              </a:defRPr>
            </a:pPr>
            <a:r>
              <a:t>Data → Pattern → Insight → Intervention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6473952"/>
            <a:ext cx="10972800" cy="10972"/>
          </a:xfrm>
          <a:prstGeom prst="rect">
            <a:avLst/>
          </a:prstGeom>
          <a:solidFill>
            <a:srgbClr val="DB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>
                <a:solidFill>
                  <a:srgbClr val="5D6A77"/>
                </a:solidFill>
              </a:defRPr>
            </a:pPr>
            <a:r>
              <a:t>GROUP 9  •  Data-Driven Student Performance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51052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5D6A77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700" b="1">
                <a:solidFill>
                  <a:srgbClr val="11223A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5D6A77"/>
                </a:solidFill>
              </a:defRPr>
            </a:pPr>
            <a:r>
              <a:t>What the analysis was designed to answer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61872"/>
            <a:ext cx="2148840" cy="310896"/>
          </a:xfrm>
          <a:prstGeom prst="round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325880"/>
            <a:ext cx="2002536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CAABE"/>
                </a:solidFill>
              </a:defRPr>
            </a:pPr>
            <a:r>
              <a:t>GENERAL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900" b="1">
                <a:solidFill>
                  <a:srgbClr val="11223A"/>
                </a:solidFill>
              </a:defRPr>
            </a:pPr>
            <a:r>
              <a:t>Analyze student study habits and identify data-driven factors associated with academic performance.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060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11223A"/>
                </a:solidFill>
              </a:defRPr>
            </a:pPr>
            <a:r>
              <a:t>Specific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CAABE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136392"/>
            <a:ext cx="48006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50" b="0">
                <a:solidFill>
                  <a:srgbClr val="222B34"/>
                </a:solidFill>
              </a:defRPr>
            </a:pPr>
            <a:r>
              <a:t>Analyze student academic performance.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15468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CAABE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136392"/>
            <a:ext cx="48006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50" b="0">
                <a:solidFill>
                  <a:srgbClr val="222B34"/>
                </a:solidFill>
              </a:defRPr>
            </a:pPr>
            <a:r>
              <a:t>Examine major study habits and behavioral patterns.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1480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CAABE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096512"/>
            <a:ext cx="48006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50" b="0">
                <a:solidFill>
                  <a:srgbClr val="222B34"/>
                </a:solidFill>
              </a:defRPr>
            </a:pPr>
            <a:r>
              <a:t>Investigate relationships between study habits and academic outcomes.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11480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CAABE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096512"/>
            <a:ext cx="48006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50" b="0">
                <a:solidFill>
                  <a:srgbClr val="222B34"/>
                </a:solidFill>
              </a:defRPr>
            </a:pPr>
            <a:r>
              <a:t>Identify factors associated with higher academic performance.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7492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CAABE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56632"/>
            <a:ext cx="48006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50" b="0">
                <a:solidFill>
                  <a:srgbClr val="222B34"/>
                </a:solidFill>
              </a:defRPr>
            </a:pPr>
            <a:r>
              <a:t>Develop evidence-based recommendations for improving academic performance.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" y="6473952"/>
            <a:ext cx="10972800" cy="10972"/>
          </a:xfrm>
          <a:prstGeom prst="rect">
            <a:avLst/>
          </a:prstGeom>
          <a:solidFill>
            <a:srgbClr val="DB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>
                <a:solidFill>
                  <a:srgbClr val="5D6A77"/>
                </a:solidFill>
              </a:defRPr>
            </a:pPr>
            <a:r>
              <a:t>GROUP 9  •  Data-Driven Student Performance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51052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5D6A77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700" b="1">
                <a:solidFill>
                  <a:srgbClr val="11223A"/>
                </a:solidFill>
              </a:defRPr>
            </a:pPr>
            <a:r>
              <a:t>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5D6A77"/>
                </a:solidFill>
              </a:defRPr>
            </a:pPr>
            <a:r>
              <a:t>Questions directly aligned to the analysis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698480" cy="68580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481328"/>
            <a:ext cx="320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1CAABE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453895"/>
            <a:ext cx="9646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222B34"/>
                </a:solidFill>
              </a:defRPr>
            </a:pPr>
            <a:r>
              <a:t>What is the relationship between study hours and academic performance?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58568"/>
            <a:ext cx="10698480" cy="68580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414015"/>
            <a:ext cx="320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1CAABE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386584"/>
            <a:ext cx="9646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222B34"/>
                </a:solidFill>
              </a:defRPr>
            </a:pPr>
            <a:r>
              <a:t>Does attendance influence academic performance?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91256"/>
            <a:ext cx="10698480" cy="68580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3346704"/>
            <a:ext cx="320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1CAABE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319272"/>
            <a:ext cx="9646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222B34"/>
                </a:solidFill>
              </a:defRPr>
            </a:pPr>
            <a:r>
              <a:t>Which study-related factors are most strongly associated with final exam scores?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23944"/>
            <a:ext cx="10698480" cy="68580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4279392"/>
            <a:ext cx="320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1CAABE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251959"/>
            <a:ext cx="9646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222B34"/>
                </a:solidFill>
              </a:defRPr>
            </a:pPr>
            <a:r>
              <a:t>Do internet access and part-time employment correspond to different performance levels?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56632"/>
            <a:ext cx="10698480" cy="68580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521208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1CAABE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184648"/>
            <a:ext cx="9646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222B34"/>
                </a:solidFill>
              </a:defRPr>
            </a:pPr>
            <a:r>
              <a:t>How can data-driven insights be used to identify and support students at risk?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6473952"/>
            <a:ext cx="10972800" cy="10972"/>
          </a:xfrm>
          <a:prstGeom prst="rect">
            <a:avLst/>
          </a:prstGeom>
          <a:solidFill>
            <a:srgbClr val="DB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>
                <a:solidFill>
                  <a:srgbClr val="5D6A77"/>
                </a:solidFill>
              </a:defRPr>
            </a:pPr>
            <a:r>
              <a:t>GROUP 9  •  Data-Driven Student Performance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51052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5D6A77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700" b="1">
                <a:solidFill>
                  <a:srgbClr val="11223A"/>
                </a:solidFill>
              </a:defRPr>
            </a:pPr>
            <a:r>
              <a:t>Dataset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5D6A77"/>
                </a:solidFill>
              </a:defRPr>
            </a:pPr>
            <a:r>
              <a:t>Actual structure reported by the uploaded notebook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224028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490472"/>
            <a:ext cx="2020824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500" b="1">
                <a:solidFill>
                  <a:srgbClr val="2463A6"/>
                </a:solidFill>
              </a:defRPr>
            </a:pPr>
            <a:r>
              <a:t>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984248"/>
            <a:ext cx="20208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5D6A77"/>
                </a:solidFill>
              </a:defRPr>
            </a:pPr>
            <a:r>
              <a:t>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325880"/>
            <a:ext cx="224028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64408" y="1490472"/>
            <a:ext cx="2020824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500" b="1">
                <a:solidFill>
                  <a:srgbClr val="268285"/>
                </a:solidFill>
              </a:defRPr>
            </a:pPr>
            <a: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4408" y="1984248"/>
            <a:ext cx="20208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5D6A77"/>
                </a:solidFill>
              </a:defRPr>
            </a:pPr>
            <a:r>
              <a:t>Columns after loading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325880"/>
            <a:ext cx="224028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87568" y="1490472"/>
            <a:ext cx="2020824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500" b="1">
                <a:solidFill>
                  <a:srgbClr val="C0852A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87568" y="1984248"/>
            <a:ext cx="20208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5D6A77"/>
                </a:solidFill>
              </a:defRPr>
            </a:pPr>
            <a:r>
              <a:t>Numerical variables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325880"/>
            <a:ext cx="224028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10727" y="1490472"/>
            <a:ext cx="2020824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500" b="1">
                <a:solidFill>
                  <a:srgbClr val="1CAABE"/>
                </a:solidFill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7" y="1984248"/>
            <a:ext cx="202082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5D6A77"/>
                </a:solidFill>
              </a:defRPr>
            </a:pPr>
            <a:r>
              <a:t>String variables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88036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1223A"/>
                </a:solidFill>
              </a:defRPr>
            </a:pPr>
            <a:r>
              <a:t>Target /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29184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>
                <a:solidFill>
                  <a:srgbClr val="2463A6"/>
                </a:solidFill>
              </a:defRPr>
            </a:pPr>
            <a:r>
              <a:t>final_exam_score and final_grade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88036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1223A"/>
                </a:solidFill>
              </a:defRPr>
            </a:pPr>
            <a:r>
              <a:t>Key numerical variables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291840"/>
            <a:ext cx="70408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222B34"/>
                </a:solidFill>
              </a:defRPr>
            </a:pPr>
            <a:r>
              <a:t>study_time_hours • attendance_percent • sleep_hours • previous_grade • final_exam_score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25196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1223A"/>
                </a:solidFill>
              </a:defRPr>
            </a:pPr>
            <a:r>
              <a:t>Key categorical variables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66344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222B34"/>
                </a:solidFill>
              </a:defRPr>
            </a:pPr>
            <a:r>
              <a:t>gender • parental_education • internet_access • extracurricular_activities • part_time_job • final_grade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71500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>
                <a:solidFill>
                  <a:srgbClr val="5D6A77"/>
                </a:solidFill>
              </a:defRPr>
            </a:pPr>
            <a:r>
              <a:t>Dataset source name used in notebook: student_performance_dataset.csv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" y="6473952"/>
            <a:ext cx="10972800" cy="10972"/>
          </a:xfrm>
          <a:prstGeom prst="rect">
            <a:avLst/>
          </a:prstGeom>
          <a:solidFill>
            <a:srgbClr val="DB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>
                <a:solidFill>
                  <a:srgbClr val="5D6A77"/>
                </a:solidFill>
              </a:defRPr>
            </a:pPr>
            <a:r>
              <a:t>GROUP 9  •  Data-Driven Student Performance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51052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5D6A77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700" b="1">
                <a:solidFill>
                  <a:srgbClr val="11223A"/>
                </a:solidFill>
              </a:defRPr>
            </a:pPr>
            <a:r>
              <a:t>Data Cleaning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5D6A77"/>
                </a:solidFill>
              </a:defRPr>
            </a:pPr>
            <a:r>
              <a:t>Raw data → cleaning → transformation → analysis-ready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196596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64592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1CAABE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01168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50" b="1">
                <a:solidFill>
                  <a:srgbClr val="11223A"/>
                </a:solidFill>
              </a:defRPr>
            </a:pPr>
            <a:r>
              <a:t>RAW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51460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50" b="0">
                <a:solidFill>
                  <a:srgbClr val="5D6A77"/>
                </a:solidFill>
              </a:defRPr>
            </a:pPr>
            <a:r>
              <a:t>1,000 rows</a:t>
            </a:r>
            <a:br/>
            <a:r>
              <a:t>12 columns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1463040"/>
            <a:ext cx="196596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08376" y="164592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1CAABE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8376" y="201168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50" b="1">
                <a:solidFill>
                  <a:srgbClr val="11223A"/>
                </a:solidFill>
              </a:defRPr>
            </a:pPr>
            <a:r>
              <a:t>QUALITY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51460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50" b="0">
                <a:solidFill>
                  <a:srgbClr val="5D6A77"/>
                </a:solidFill>
              </a:defRPr>
            </a:pPr>
            <a:r>
              <a:t>102 missing</a:t>
            </a:r>
            <a:br/>
            <a:r>
              <a:t>0 duplicates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02936" y="1463040"/>
            <a:ext cx="196596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12664" y="164592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1CAABE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2664" y="201168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50" b="1">
                <a:solidFill>
                  <a:srgbClr val="11223A"/>
                </a:solidFill>
              </a:defRPr>
            </a:pPr>
            <a:r>
              <a:t>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251460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50" b="0">
                <a:solidFill>
                  <a:srgbClr val="5D6A77"/>
                </a:solidFill>
              </a:defRPr>
            </a:pPr>
            <a:r>
              <a:t>Mode imputation</a:t>
            </a:r>
            <a:br/>
            <a:r>
              <a:t>for parental education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07224" y="1463040"/>
            <a:ext cx="196596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16952" y="164592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1CAABE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201168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50" b="1">
                <a:solidFill>
                  <a:srgbClr val="11223A"/>
                </a:solidFill>
              </a:defRPr>
            </a:pPr>
            <a:r>
              <a:t>TRANSFORM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71816" y="251460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50" b="0">
                <a:solidFill>
                  <a:srgbClr val="5D6A77"/>
                </a:solidFill>
              </a:defRPr>
            </a:pPr>
            <a:r>
              <a:t>Study &amp; attendance</a:t>
            </a:r>
            <a:br/>
            <a:r>
              <a:t>categories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11512" y="1463040"/>
            <a:ext cx="196596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21240" y="164592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1CAABE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201168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50" b="1">
                <a:solidFill>
                  <a:srgbClr val="11223A"/>
                </a:solidFill>
              </a:defRPr>
            </a:pPr>
            <a:r>
              <a:t>DERIVE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76104" y="251460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50" b="0">
                <a:solidFill>
                  <a:srgbClr val="5D6A77"/>
                </a:solidFill>
              </a:defRPr>
            </a:pPr>
            <a:r>
              <a:t>Pass / At Risk</a:t>
            </a:r>
            <a:br/>
            <a:r>
              <a:t>score change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93192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700" b="1">
                <a:solidFill>
                  <a:srgbClr val="11223A"/>
                </a:solidFill>
              </a:defRPr>
            </a:pPr>
            <a:r>
              <a:t>Missing-value treatment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3891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222B34"/>
                </a:solidFill>
              </a:defRPr>
            </a:pPr>
            <a:r>
              <a:t>Parental education had 102 missing values (10.2%). Because it is categorical, the notebook filled missing entries using the mode. After cleaning, all columns contained 0 missing values.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6235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50" b="1">
                <a:solidFill>
                  <a:srgbClr val="2463A6"/>
                </a:solidFill>
              </a:defRPr>
            </a:pPr>
            <a:r>
              <a:t>Derived features: study-time bands, attendance bands, performance_status and score_change.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" y="6473952"/>
            <a:ext cx="10972800" cy="10972"/>
          </a:xfrm>
          <a:prstGeom prst="rect">
            <a:avLst/>
          </a:prstGeom>
          <a:solidFill>
            <a:srgbClr val="DB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>
                <a:solidFill>
                  <a:srgbClr val="5D6A77"/>
                </a:solidFill>
              </a:defRPr>
            </a:pPr>
            <a:r>
              <a:t>GROUP 9  •  Data-Driven Student Performance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51052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5D6A77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700" b="1">
                <a:solidFill>
                  <a:srgbClr val="11223A"/>
                </a:solidFill>
              </a:defRPr>
            </a:pPr>
            <a: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5D6A77"/>
                </a:solidFill>
              </a:defRPr>
            </a:pPr>
            <a:r>
              <a:t>Performance distribution and descriptive profile</a:t>
            </a:r>
          </a:p>
        </p:txBody>
      </p:sp>
      <p:pic>
        <p:nvPicPr>
          <p:cNvPr id="5" name="Picture 4" descr="01_grad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715000" cy="4114800"/>
          </a:xfrm>
          <a:prstGeom prst="rect">
            <a:avLst/>
          </a:prstGeom>
        </p:spPr>
      </p:pic>
      <p:pic>
        <p:nvPicPr>
          <p:cNvPr id="6" name="Picture 5" descr="07_summary_ran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303520" cy="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486400"/>
            <a:ext cx="10698480" cy="77724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5632704"/>
            <a:ext cx="1033271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11223A"/>
                </a:solidFill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016752"/>
            <a:ext cx="10332719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20" b="0">
                <a:solidFill>
                  <a:srgbClr val="222B34"/>
                </a:solidFill>
              </a:defRPr>
            </a:pPr>
            <a:r>
              <a:t>The most common final grade is B (354 students), followed by A (284) and C (261). D and F together account for 101 students classified as At Risk.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6473952"/>
            <a:ext cx="10972800" cy="10972"/>
          </a:xfrm>
          <a:prstGeom prst="rect">
            <a:avLst/>
          </a:prstGeom>
          <a:solidFill>
            <a:srgbClr val="DB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>
                <a:solidFill>
                  <a:srgbClr val="5D6A77"/>
                </a:solidFill>
              </a:defRPr>
            </a:pPr>
            <a:r>
              <a:t>GROUP 9  •  Data-Driven Student Performance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51052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5D6A77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700" b="1">
                <a:solidFill>
                  <a:srgbClr val="11223A"/>
                </a:solidFill>
              </a:defRPr>
            </a:pPr>
            <a:r>
              <a:t>Study Hours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5D6A77"/>
                </a:solidFill>
              </a:defRPr>
            </a:pPr>
            <a:r>
              <a:t>A clear positive pattern across study-time categories</a:t>
            </a:r>
          </a:p>
        </p:txBody>
      </p:sp>
      <p:pic>
        <p:nvPicPr>
          <p:cNvPr id="5" name="Picture 4" descr="02_study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694944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09560" y="1417320"/>
            <a:ext cx="306324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19288" y="1581912"/>
            <a:ext cx="2843784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500" b="1">
                <a:solidFill>
                  <a:srgbClr val="268285"/>
                </a:solidFill>
              </a:defRPr>
            </a:pPr>
            <a:r>
              <a:t>r = 0.568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9288" y="2075688"/>
            <a:ext cx="284378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5D6A77"/>
                </a:solidFill>
              </a:defRPr>
            </a:pPr>
            <a:r>
              <a:t>Correlation with final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88036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0">
                <a:solidFill>
                  <a:srgbClr val="222B34"/>
                </a:solidFill>
              </a:defRPr>
            </a:pPr>
            <a:r>
              <a:t>0–2 hours → 74.79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342900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11223A"/>
                </a:solidFill>
              </a:defRPr>
            </a:pPr>
            <a:r>
              <a:t>6+ hours → 95.32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406908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2463A6"/>
                </a:solidFill>
              </a:defRPr>
            </a:pPr>
            <a:r>
              <a:t>Observed gap: 20.53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4709160"/>
            <a:ext cx="33832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20" b="0">
                <a:solidFill>
                  <a:srgbClr val="222B34"/>
                </a:solidFill>
              </a:defRPr>
            </a:pPr>
            <a:r>
              <a:t>Interpretation: study time has the strongest observed linear association with final score among the variables examined. The analysis does not establish causation.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6473952"/>
            <a:ext cx="10972800" cy="10972"/>
          </a:xfrm>
          <a:prstGeom prst="rect">
            <a:avLst/>
          </a:prstGeom>
          <a:solidFill>
            <a:srgbClr val="DB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>
                <a:solidFill>
                  <a:srgbClr val="5D6A77"/>
                </a:solidFill>
              </a:defRPr>
            </a:pPr>
            <a:r>
              <a:t>GROUP 9  •  Data-Driven Student Performance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51052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5D6A77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700" b="1">
                <a:solidFill>
                  <a:srgbClr val="11223A"/>
                </a:solidFill>
              </a:defRPr>
            </a:pPr>
            <a:r>
              <a:t>Attendance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5D6A77"/>
                </a:solidFill>
              </a:defRPr>
            </a:pPr>
            <a:r>
              <a:t>Higher attendance bands correspond to higher average scores</a:t>
            </a:r>
          </a:p>
        </p:txBody>
      </p:sp>
      <p:pic>
        <p:nvPicPr>
          <p:cNvPr id="5" name="Picture 4" descr="03_atten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704088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09560" y="1417320"/>
            <a:ext cx="306324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19288" y="1581912"/>
            <a:ext cx="2843784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500" b="1">
                <a:solidFill>
                  <a:srgbClr val="2463A6"/>
                </a:solidFill>
              </a:defRPr>
            </a:pPr>
            <a:r>
              <a:t>r = 0.262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9288" y="2075688"/>
            <a:ext cx="284378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5D6A77"/>
                </a:solidFill>
              </a:defRPr>
            </a:pPr>
            <a:r>
              <a:t>Correlation with final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88036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0">
                <a:solidFill>
                  <a:srgbClr val="222B34"/>
                </a:solidFill>
              </a:defRPr>
            </a:pPr>
            <a:r>
              <a:t>Below 70% → 76.91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342900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11223A"/>
                </a:solidFill>
              </a:defRPr>
            </a:pPr>
            <a:r>
              <a:t>90%+ → 86.41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406908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268285"/>
                </a:solidFill>
              </a:defRPr>
            </a:pPr>
            <a:r>
              <a:t>Observed gap: 9.50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4709160"/>
            <a:ext cx="33832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20" b="0">
                <a:solidFill>
                  <a:srgbClr val="222B34"/>
                </a:solidFill>
              </a:defRPr>
            </a:pPr>
            <a:r>
              <a:t>Interpretation: attendance shows a positive, but weaker, association with final score than study time or previous grade.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6473952"/>
            <a:ext cx="10972800" cy="10972"/>
          </a:xfrm>
          <a:prstGeom prst="rect">
            <a:avLst/>
          </a:prstGeom>
          <a:solidFill>
            <a:srgbClr val="DB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>
                <a:solidFill>
                  <a:srgbClr val="5D6A77"/>
                </a:solidFill>
              </a:defRPr>
            </a:pPr>
            <a:r>
              <a:t>GROUP 9  •  Data-Driven Student Performance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51052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5D6A77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700" b="1">
                <a:solidFill>
                  <a:srgbClr val="11223A"/>
                </a:solidFill>
              </a:defRPr>
            </a:pPr>
            <a:r>
              <a:t>Other Study &amp; Context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5D6A77"/>
                </a:solidFill>
              </a:defRPr>
            </a:pPr>
            <a:r>
              <a:t>Additional performance signals present in the dataset</a:t>
            </a:r>
          </a:p>
        </p:txBody>
      </p:sp>
      <p:pic>
        <p:nvPicPr>
          <p:cNvPr id="5" name="Picture 4" descr="04_inter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120640" cy="3"/>
          </a:xfrm>
          <a:prstGeom prst="rect">
            <a:avLst/>
          </a:prstGeom>
        </p:spPr>
      </p:pic>
      <p:pic>
        <p:nvPicPr>
          <p:cNvPr id="6" name="Picture 5" descr="05_j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17320"/>
            <a:ext cx="5120640" cy="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93776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>
                <a:solidFill>
                  <a:srgbClr val="11223A"/>
                </a:solidFill>
              </a:defRPr>
            </a:pPr>
            <a:r>
              <a:t>Internet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49240"/>
            <a:ext cx="5074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50" b="0">
                <a:solidFill>
                  <a:srgbClr val="222B34"/>
                </a:solidFill>
              </a:defRPr>
            </a:pPr>
            <a:r>
              <a:t>Yes: 84.28  •  No: 79.26  •  Gap: 5.02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493776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>
                <a:solidFill>
                  <a:srgbClr val="11223A"/>
                </a:solidFill>
              </a:defRPr>
            </a:pPr>
            <a:r>
              <a:t>Part-time employment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5349240"/>
            <a:ext cx="5074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50" b="0">
                <a:solidFill>
                  <a:srgbClr val="222B34"/>
                </a:solidFill>
              </a:defRPr>
            </a:pPr>
            <a:r>
              <a:t>No job: 84.58  •  Job: 81.29  •  Gap: 3.29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97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>
                <a:solidFill>
                  <a:srgbClr val="5D6A77"/>
                </a:solidFill>
              </a:defRPr>
            </a:pPr>
            <a:r>
              <a:t>Sleep is positively correlated with final score at r = 0.148, which is weaker than the relationships for study time, previous grade and attendance.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6473952"/>
            <a:ext cx="10972800" cy="10972"/>
          </a:xfrm>
          <a:prstGeom prst="rect">
            <a:avLst/>
          </a:prstGeom>
          <a:solidFill>
            <a:srgbClr val="DB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>
                <a:solidFill>
                  <a:srgbClr val="5D6A77"/>
                </a:solidFill>
              </a:defRPr>
            </a:pPr>
            <a:r>
              <a:t>GROUP 9  •  Data-Driven Student Performance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51052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5D6A77"/>
                </a:solidFill>
              </a:defRPr>
            </a:pPr>
            <a:r>
              <a:t>11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5E8BC63-5DBF-4040-805E-B7BC318E03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4226"/>
            <a:ext cx="11000232" cy="482353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700" b="1">
                <a:solidFill>
                  <a:srgbClr val="11223A"/>
                </a:solidFill>
              </a:defRPr>
            </a:pPr>
            <a:r>
              <a:t>Correlation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5D6A77"/>
                </a:solidFill>
              </a:defRPr>
            </a:pPr>
            <a:r>
              <a:t>Pearson correlations reported by the notebook</a:t>
            </a:r>
          </a:p>
        </p:txBody>
      </p:sp>
      <p:pic>
        <p:nvPicPr>
          <p:cNvPr id="5" name="Picture 4" descr="06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6583680" cy="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630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1223A"/>
                </a:solidFill>
              </a:defRPr>
            </a:pPr>
            <a:r>
              <a:t>Strongest positive relationships with final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10312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50" b="0">
                <a:solidFill>
                  <a:srgbClr val="222B34"/>
                </a:solidFill>
              </a:defRPr>
            </a:pPr>
            <a:r>
              <a:t>Study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21031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600" b="1">
                <a:solidFill>
                  <a:srgbClr val="268285"/>
                </a:solidFill>
              </a:defRPr>
            </a:pPr>
            <a:r>
              <a:t>0.568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81635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50" b="0">
                <a:solidFill>
                  <a:srgbClr val="222B34"/>
                </a:solidFill>
              </a:defRPr>
            </a:pPr>
            <a:r>
              <a:t>Previous grade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28163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600" b="1">
                <a:solidFill>
                  <a:srgbClr val="2463A6"/>
                </a:solidFill>
              </a:defRPr>
            </a:pPr>
            <a:r>
              <a:t>0.406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529584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50" b="0">
                <a:solidFill>
                  <a:srgbClr val="222B34"/>
                </a:solidFill>
              </a:defRPr>
            </a:pPr>
            <a:r>
              <a:t>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9800" y="352958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600" b="1">
                <a:solidFill>
                  <a:srgbClr val="1CAABE"/>
                </a:solidFill>
              </a:defRPr>
            </a:pPr>
            <a:r>
              <a:t>0.262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4242816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50" b="0">
                <a:solidFill>
                  <a:srgbClr val="222B34"/>
                </a:solidFill>
              </a:defRPr>
            </a:pPr>
            <a:r>
              <a:t>Sleep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424281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600" b="1">
                <a:solidFill>
                  <a:srgbClr val="C0852A"/>
                </a:solidFill>
              </a:defRPr>
            </a:pPr>
            <a:r>
              <a:t>0.148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51206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>
                <a:solidFill>
                  <a:srgbClr val="11223A"/>
                </a:solidFill>
              </a:defRPr>
            </a:pPr>
            <a:r>
              <a:t>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5486400"/>
            <a:ext cx="37033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80" b="0">
                <a:solidFill>
                  <a:srgbClr val="222B34"/>
                </a:solidFill>
              </a:defRPr>
            </a:pPr>
            <a:r>
              <a:t>The matrix shows association, not causation. Statistical significance testing was not reported in the notebook, so significance claims are intentionally not made.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6473952"/>
            <a:ext cx="10972800" cy="10972"/>
          </a:xfrm>
          <a:prstGeom prst="rect">
            <a:avLst/>
          </a:prstGeom>
          <a:solidFill>
            <a:srgbClr val="DB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>
                <a:solidFill>
                  <a:srgbClr val="5D6A77"/>
                </a:solidFill>
              </a:defRPr>
            </a:pPr>
            <a:r>
              <a:t>GROUP 9  •  Data-Driven Student Performance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51052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5D6A77"/>
                </a:solidFill>
              </a:defRPr>
            </a:pPr>
            <a:r>
              <a:t>12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A592077-D739-47C9-889C-057AB0E9C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70" y="1137519"/>
            <a:ext cx="6945922" cy="51535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700" b="1">
                <a:solidFill>
                  <a:srgbClr val="11223A"/>
                </a:solidFill>
              </a:defRPr>
            </a:pPr>
            <a:r>
              <a:t>Statistical / Analytical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5D6A77"/>
                </a:solidFill>
              </a:defRPr>
            </a:pPr>
            <a:r>
              <a:t>Finding → evidence →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50" b="1">
                <a:solidFill>
                  <a:srgbClr val="11223A"/>
                </a:solidFill>
              </a:defRPr>
            </a:pPr>
            <a:r>
              <a:t>Study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298448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50" b="1">
                <a:solidFill>
                  <a:srgbClr val="268285"/>
                </a:solidFill>
              </a:defRPr>
            </a:pPr>
            <a:r>
              <a:t>r = 0.568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3480" y="1298448"/>
            <a:ext cx="63093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222B34"/>
                </a:solidFill>
              </a:defRPr>
            </a:pPr>
            <a:r>
              <a:t>Strongest observed positive linear association with final score.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50" b="1">
                <a:solidFill>
                  <a:srgbClr val="11223A"/>
                </a:solidFill>
              </a:defRPr>
            </a:pPr>
            <a:r>
              <a:t>Previous grade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2402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50" b="1">
                <a:solidFill>
                  <a:srgbClr val="268285"/>
                </a:solidFill>
              </a:defRPr>
            </a:pPr>
            <a:r>
              <a:t>r = 0.406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2240280"/>
            <a:ext cx="63093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222B34"/>
                </a:solidFill>
              </a:defRPr>
            </a:pPr>
            <a:r>
              <a:t>Prior achievement is positively associated with final performance.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8211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50" b="1">
                <a:solidFill>
                  <a:srgbClr val="11223A"/>
                </a:solidFill>
              </a:defRPr>
            </a:pPr>
            <a:r>
              <a:t>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18211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50" b="1">
                <a:solidFill>
                  <a:srgbClr val="268285"/>
                </a:solidFill>
              </a:defRPr>
            </a:pPr>
            <a:r>
              <a:t>r = 0.262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3182112"/>
            <a:ext cx="63093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222B34"/>
                </a:solidFill>
              </a:defRPr>
            </a:pPr>
            <a:r>
              <a:t>Higher attendance bands have higher average final scores.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23944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50" b="1">
                <a:solidFill>
                  <a:srgbClr val="11223A"/>
                </a:solidFill>
              </a:defRPr>
            </a:pPr>
            <a:r>
              <a:t>Internet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123944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50" b="1">
                <a:solidFill>
                  <a:srgbClr val="268285"/>
                </a:solidFill>
              </a:defRPr>
            </a:pPr>
            <a:r>
              <a:t>84.28 vs 79.26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4123944"/>
            <a:ext cx="63093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222B34"/>
                </a:solidFill>
              </a:defRPr>
            </a:pPr>
            <a:r>
              <a:t>Students with internet access have a higher group average.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65776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50" b="1">
                <a:solidFill>
                  <a:srgbClr val="11223A"/>
                </a:solidFill>
              </a:defRPr>
            </a:pPr>
            <a:r>
              <a:t>Part-time job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5065776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50" b="1">
                <a:solidFill>
                  <a:srgbClr val="268285"/>
                </a:solidFill>
              </a:defRPr>
            </a:pPr>
            <a:r>
              <a:t>81.29 vs 84.58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5065776"/>
            <a:ext cx="63093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222B34"/>
                </a:solidFill>
              </a:defRPr>
            </a:pPr>
            <a:r>
              <a:t>Students with a part-time job have a lower group average.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6473952"/>
            <a:ext cx="10972800" cy="10972"/>
          </a:xfrm>
          <a:prstGeom prst="rect">
            <a:avLst/>
          </a:prstGeom>
          <a:solidFill>
            <a:srgbClr val="DB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>
                <a:solidFill>
                  <a:srgbClr val="5D6A77"/>
                </a:solidFill>
              </a:defRPr>
            </a:pPr>
            <a:r>
              <a:t>GROUP 9  •  Data-Driven Student Performance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51052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5D6A77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700" b="1">
                <a:solidFill>
                  <a:srgbClr val="11223A"/>
                </a:solidFill>
              </a:defRPr>
            </a:pPr>
            <a:r>
              <a:t>Key Insights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5D6A77"/>
                </a:solidFill>
              </a:defRPr>
            </a:pPr>
            <a:r>
              <a:t>Management-ready snapshot of the analyzed cohort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51460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490472"/>
            <a:ext cx="2295144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500" b="1">
                <a:solidFill>
                  <a:srgbClr val="2463A6"/>
                </a:solidFill>
              </a:defRPr>
            </a:pPr>
            <a:r>
              <a:t>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984248"/>
            <a:ext cx="22951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5D6A77"/>
                </a:solidFill>
              </a:defRPr>
            </a:pPr>
            <a:r>
              <a:t>Total students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25880"/>
            <a:ext cx="251460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38728" y="1490472"/>
            <a:ext cx="2295144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500" b="1">
                <a:solidFill>
                  <a:srgbClr val="268285"/>
                </a:solidFill>
              </a:defRPr>
            </a:pPr>
            <a:r>
              <a:t>83.54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1984248"/>
            <a:ext cx="22951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5D6A77"/>
                </a:solidFill>
              </a:defRPr>
            </a:pPr>
            <a:r>
              <a:t>Avg final 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251460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1490472"/>
            <a:ext cx="2295144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500" b="1">
                <a:solidFill>
                  <a:srgbClr val="2463A6"/>
                </a:solidFill>
              </a:defRPr>
            </a:pPr>
            <a:r>
              <a:t>3.57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984248"/>
            <a:ext cx="22951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5D6A77"/>
                </a:solidFill>
              </a:defRPr>
            </a:pPr>
            <a:r>
              <a:t>Avg study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325880"/>
            <a:ext cx="251460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08008" y="1490472"/>
            <a:ext cx="2295144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500" b="1">
                <a:solidFill>
                  <a:srgbClr val="1CAABE"/>
                </a:solidFill>
              </a:defRPr>
            </a:pPr>
            <a:r>
              <a:t>85.09%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08008" y="1984248"/>
            <a:ext cx="22951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5D6A77"/>
                </a:solidFill>
              </a:defRPr>
            </a:pPr>
            <a:r>
              <a:t>Avg attendance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971800"/>
            <a:ext cx="251460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3136392"/>
            <a:ext cx="2295144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500" b="1">
                <a:solidFill>
                  <a:srgbClr val="37875C"/>
                </a:solidFill>
              </a:defRPr>
            </a:pPr>
            <a:r>
              <a:t>89.90%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3630168"/>
            <a:ext cx="22951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5D6A77"/>
                </a:solidFill>
              </a:defRPr>
            </a:pPr>
            <a:r>
              <a:t>Pass rate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2971800"/>
            <a:ext cx="251460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38728" y="3136392"/>
            <a:ext cx="2295144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500" b="1">
                <a:solidFill>
                  <a:srgbClr val="B14343"/>
                </a:solidFill>
              </a:defRPr>
            </a:pPr>
            <a:r>
              <a:t>10.10%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3630168"/>
            <a:ext cx="22951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5D6A77"/>
                </a:solidFill>
              </a:defRPr>
            </a:pPr>
            <a:r>
              <a:t>At-risk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2971800"/>
            <a:ext cx="251460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73368" y="3136392"/>
            <a:ext cx="2295144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500" b="1">
                <a:solidFill>
                  <a:srgbClr val="268285"/>
                </a:solidFill>
              </a:defRPr>
            </a:pPr>
            <a:r>
              <a:t>95.32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3630168"/>
            <a:ext cx="22951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5D6A77"/>
                </a:solidFill>
              </a:defRPr>
            </a:pPr>
            <a:r>
              <a:t>Best study category avg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2971800"/>
            <a:ext cx="251460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08008" y="3136392"/>
            <a:ext cx="2295144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500" b="1">
                <a:solidFill>
                  <a:srgbClr val="2463A6"/>
                </a:solidFill>
              </a:defRPr>
            </a:pPr>
            <a:r>
              <a:t>0.568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8008" y="3630168"/>
            <a:ext cx="229514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5D6A77"/>
                </a:solidFill>
              </a:defRPr>
            </a:pPr>
            <a:r>
              <a:t>Strongest correlation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07492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11223A"/>
                </a:solidFill>
              </a:defRPr>
            </a:pPr>
            <a:r>
              <a:t>Additional KPI: internet access rate = 85.40%  •  average score change = +13.80 points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715000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50" b="0">
                <a:solidFill>
                  <a:srgbClr val="5D6A77"/>
                </a:solidFill>
              </a:defRPr>
            </a:pPr>
            <a:r>
              <a:t>Note: “Strongest correlation” refers to the largest Pearson correlation with final_exam_score among the numerical variables analyzed.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" y="6473952"/>
            <a:ext cx="10972800" cy="10972"/>
          </a:xfrm>
          <a:prstGeom prst="rect">
            <a:avLst/>
          </a:prstGeom>
          <a:solidFill>
            <a:srgbClr val="DB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>
                <a:solidFill>
                  <a:srgbClr val="5D6A77"/>
                </a:solidFill>
              </a:defRPr>
            </a:pPr>
            <a:r>
              <a:t>GROUP 9  •  Data-Driven Student Performance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1052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5D6A77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700" b="1">
                <a:solidFill>
                  <a:srgbClr val="11223A"/>
                </a:solidFill>
              </a:defRPr>
            </a:pPr>
            <a:r>
              <a:t>Data-Driven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5D6A77"/>
                </a:solidFill>
              </a:defRPr>
            </a:pPr>
            <a:r>
              <a:t>Actions directly connected to observed patterns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434340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69164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1CAABE"/>
                </a:solidFill>
              </a:defRPr>
            </a:pPr>
            <a:r>
              <a:t>FOR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20">
                <a:solidFill>
                  <a:srgbClr val="222B34"/>
                </a:solidFill>
              </a:defRPr>
            </a:pPr>
            <a:r>
              <a:t>• Develop structured study schedules, especially for low study-time groups.</a:t>
            </a:r>
          </a:p>
          <a:p>
            <a:pPr>
              <a:spcAft>
                <a:spcPts val="1000"/>
              </a:spcAft>
              <a:defRPr sz="1320">
                <a:solidFill>
                  <a:srgbClr val="222B34"/>
                </a:solidFill>
              </a:defRPr>
            </a:pPr>
            <a:r>
              <a:t>• Maintain regular attendance and monitor attendance before it falls below 70%.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429000" cy="434340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6008" y="169164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1CAABE"/>
                </a:solidFill>
              </a:defRPr>
            </a:pPr>
            <a:r>
              <a:t>FOR EDUCATORS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28600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20">
                <a:solidFill>
                  <a:srgbClr val="222B34"/>
                </a:solidFill>
              </a:defRPr>
            </a:pPr>
            <a:r>
              <a:t>• Identify D/F students early and provide targeted academic support.</a:t>
            </a:r>
          </a:p>
          <a:p>
            <a:pPr>
              <a:spcAft>
                <a:spcPts val="1000"/>
              </a:spcAft>
              <a:defRPr sz="1320">
                <a:solidFill>
                  <a:srgbClr val="222B34"/>
                </a:solidFill>
              </a:defRPr>
            </a:pPr>
            <a:r>
              <a:t>• Monitor study-time and attendance indicators alongside academic results.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17320"/>
            <a:ext cx="3429000" cy="434340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30768" y="169164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1CAABE"/>
                </a:solidFill>
              </a:defRPr>
            </a:pPr>
            <a:r>
              <a:t>FOR INSTITUTIONS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28600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20">
                <a:solidFill>
                  <a:srgbClr val="222B34"/>
                </a:solidFill>
              </a:defRPr>
            </a:pPr>
            <a:r>
              <a:t>• Use the BI dashboard for continuous performance monitoring.</a:t>
            </a:r>
          </a:p>
          <a:p>
            <a:pPr>
              <a:spcAft>
                <a:spcPts val="1000"/>
              </a:spcAft>
              <a:defRPr sz="1320">
                <a:solidFill>
                  <a:srgbClr val="222B34"/>
                </a:solidFill>
              </a:defRPr>
            </a:pPr>
            <a:r>
              <a:t>• Provide digital learning resources to students without internet access.</a:t>
            </a:r>
          </a:p>
          <a:p>
            <a:pPr>
              <a:spcAft>
                <a:spcPts val="1000"/>
              </a:spcAft>
              <a:defRPr sz="1320">
                <a:solidFill>
                  <a:srgbClr val="222B34"/>
                </a:solidFill>
              </a:defRPr>
            </a:pPr>
            <a:r>
              <a:t>• Offer flexible academic support for students with part-time jobs.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9893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50" b="1">
                <a:solidFill>
                  <a:srgbClr val="11223A"/>
                </a:solidFill>
              </a:defRPr>
            </a:pPr>
            <a:r>
              <a:t>Evidence basis: strongest signals are study time, previous grade, attendance, internet access and part-time employment.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6473952"/>
            <a:ext cx="10972800" cy="10972"/>
          </a:xfrm>
          <a:prstGeom prst="rect">
            <a:avLst/>
          </a:prstGeom>
          <a:solidFill>
            <a:srgbClr val="DB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>
                <a:solidFill>
                  <a:srgbClr val="5D6A77"/>
                </a:solidFill>
              </a:defRPr>
            </a:pPr>
            <a:r>
              <a:t>GROUP 9  •  Data-Driven Student Performance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51052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5D6A77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700" b="1">
                <a:solidFill>
                  <a:srgbClr val="11223A"/>
                </a:solidFill>
              </a:defRPr>
            </a:pPr>
            <a:r>
              <a:t>Proposed Optimization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5D6A77"/>
                </a:solidFill>
              </a:defRPr>
            </a:pPr>
            <a:r>
              <a:t>A repeatable analytics-to-intervention 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4572000" cy="59436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389888"/>
            <a:ext cx="4297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11223A"/>
                </a:solidFill>
              </a:defRPr>
            </a:pPr>
            <a:r>
              <a:t>Student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847088"/>
            <a:ext cx="2743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1CAABE"/>
                </a:solidFill>
              </a:defRPr>
            </a:pPr>
            <a: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4572000" cy="59436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304288"/>
            <a:ext cx="4297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11223A"/>
                </a:solidFill>
              </a:defRPr>
            </a:pPr>
            <a:r>
              <a:t>Data 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761488"/>
            <a:ext cx="2743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1CAABE"/>
                </a:solidFill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63240"/>
            <a:ext cx="4572000" cy="59436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4297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11223A"/>
                </a:solidFill>
              </a:defRPr>
            </a:pPr>
            <a:r>
              <a:t>Data Cleaning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675888"/>
            <a:ext cx="2743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1CAABE"/>
                </a:solidFill>
              </a:defRPr>
            </a:pPr>
            <a: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39"/>
            <a:ext cx="4572000" cy="59436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133087"/>
            <a:ext cx="4297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11223A"/>
                </a:solidFill>
              </a:defRPr>
            </a:pPr>
            <a:r>
              <a:t>Exploratory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4590288"/>
            <a:ext cx="2743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1CAABE"/>
                </a:solidFill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92040"/>
            <a:ext cx="4572000" cy="59436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5047488"/>
            <a:ext cx="4297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11223A"/>
                </a:solidFill>
              </a:defRPr>
            </a:pPr>
            <a:r>
              <a:t>Pattern Identification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234440"/>
            <a:ext cx="4572000" cy="59436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1389888"/>
            <a:ext cx="4297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11223A"/>
                </a:solidFill>
              </a:defRPr>
            </a:pPr>
            <a:r>
              <a:t>Performance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847088"/>
            <a:ext cx="2743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1CAABE"/>
                </a:solidFill>
              </a:defRPr>
            </a:pPr>
            <a: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148840"/>
            <a:ext cx="4572000" cy="59436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63640" y="2304288"/>
            <a:ext cx="4297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11223A"/>
                </a:solidFill>
              </a:defRPr>
            </a:pPr>
            <a:r>
              <a:t>Personalized Recommendations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761488"/>
            <a:ext cx="2743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1CAABE"/>
                </a:solidFill>
              </a:defRPr>
            </a:pPr>
            <a: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063240"/>
            <a:ext cx="4572000" cy="59436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3218688"/>
            <a:ext cx="4297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11223A"/>
                </a:solidFill>
              </a:defRPr>
            </a:pPr>
            <a:r>
              <a:t>Academic Intervention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675888"/>
            <a:ext cx="2743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1CAABE"/>
                </a:solidFill>
              </a:defRPr>
            </a:pPr>
            <a: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977639"/>
            <a:ext cx="4572000" cy="59436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63640" y="4133087"/>
            <a:ext cx="4297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11223A"/>
                </a:solidFill>
              </a:defRPr>
            </a:pPr>
            <a:r>
              <a:t>Performance Monitoring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6235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1CAABE"/>
                </a:solidFill>
              </a:defRPr>
            </a:pPr>
            <a:r>
              <a:t>Continuous loop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59436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50" b="0">
                <a:solidFill>
                  <a:srgbClr val="5D6A77"/>
                </a:solidFill>
              </a:defRPr>
            </a:pPr>
            <a:r>
              <a:t>Performance monitoring feeds the next cycle of data collection and intervention.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" y="6473952"/>
            <a:ext cx="10972800" cy="10972"/>
          </a:xfrm>
          <a:prstGeom prst="rect">
            <a:avLst/>
          </a:prstGeom>
          <a:solidFill>
            <a:srgbClr val="DB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>
                <a:solidFill>
                  <a:srgbClr val="5D6A77"/>
                </a:solidFill>
              </a:defRPr>
            </a:pPr>
            <a:r>
              <a:t>GROUP 9  •  Data-Driven Student Performance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18520" y="651052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5D6A77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700" b="1">
                <a:solidFill>
                  <a:srgbClr val="11223A"/>
                </a:solidFill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5D6A77"/>
                </a:solidFill>
              </a:defRPr>
            </a:pPr>
            <a:r>
              <a:t>Important boundaries on interpretation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98448"/>
            <a:ext cx="516636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2704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C0852A"/>
                </a:solidFill>
              </a:defRPr>
            </a:pPr>
            <a: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1453895"/>
            <a:ext cx="42519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80" b="0">
                <a:solidFill>
                  <a:srgbClr val="222B34"/>
                </a:solidFill>
              </a:defRPr>
            </a:pPr>
            <a:r>
              <a:t>The analysis is based on a dataset of 1,000 student records; representativeness beyond this dataset is not established.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298448"/>
            <a:ext cx="516636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52704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C0852A"/>
                </a:solidFill>
              </a:defRPr>
            </a:pPr>
            <a: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3448" y="1453895"/>
            <a:ext cx="42519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80" b="0">
                <a:solidFill>
                  <a:srgbClr val="222B34"/>
                </a:solidFill>
              </a:defRPr>
            </a:pPr>
            <a:r>
              <a:t>Parental education had 102 missing values and was imputed using the mode.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24328"/>
            <a:ext cx="516636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85292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C0852A"/>
                </a:solidFill>
              </a:defRPr>
            </a:pPr>
            <a: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779776"/>
            <a:ext cx="42519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80" b="0">
                <a:solidFill>
                  <a:srgbClr val="222B34"/>
                </a:solidFill>
              </a:defRPr>
            </a:pPr>
            <a:r>
              <a:t>The notebook does not document statistical significance tests, so significance claims are not made.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624328"/>
            <a:ext cx="516636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285292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C0852A"/>
                </a:solidFill>
              </a:defRPr>
            </a:pPr>
            <a: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448" y="2779776"/>
            <a:ext cx="42519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80" b="0">
                <a:solidFill>
                  <a:srgbClr val="222B34"/>
                </a:solidFill>
              </a:defRPr>
            </a:pPr>
            <a:r>
              <a:t>Correlation and group differences describe association; they do not establish causal effects.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50208"/>
            <a:ext cx="516636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17880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C0852A"/>
                </a:solidFill>
              </a:defRPr>
            </a:pPr>
            <a: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4105656"/>
            <a:ext cx="42519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80" b="0">
                <a:solidFill>
                  <a:srgbClr val="222B34"/>
                </a:solidFill>
              </a:defRPr>
            </a:pPr>
            <a:r>
              <a:t>The notebook does not provide evidence of a randomized or longitudinal causal design.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950208"/>
            <a:ext cx="516636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417880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C0852A"/>
                </a:solidFill>
              </a:defRPr>
            </a:pPr>
            <a: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3448" y="4105656"/>
            <a:ext cx="42519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80" b="0">
                <a:solidFill>
                  <a:srgbClr val="222B34"/>
                </a:solidFill>
              </a:defRPr>
            </a:pPr>
            <a:r>
              <a:t>Some student-context variables may not be captured, limiting the completeness of the explanation.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6473952"/>
            <a:ext cx="10972800" cy="10972"/>
          </a:xfrm>
          <a:prstGeom prst="rect">
            <a:avLst/>
          </a:prstGeom>
          <a:solidFill>
            <a:srgbClr val="DB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>
                <a:solidFill>
                  <a:srgbClr val="5D6A77"/>
                </a:solidFill>
              </a:defRPr>
            </a:pPr>
            <a:r>
              <a:t>GROUP 9  •  Data-Driven Student Performance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51052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5D6A77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700" b="1">
                <a:solidFill>
                  <a:srgbClr val="11223A"/>
                </a:solidFill>
              </a:defRPr>
            </a:pPr>
            <a: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5D6A77"/>
                </a:solidFill>
              </a:defRPr>
            </a:pPr>
            <a:r>
              <a:t>How the project can evolve from descriptive analytics to predictive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2900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50876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11223A"/>
                </a:solidFill>
              </a:defRPr>
            </a:pPr>
            <a:r>
              <a:t>Larger datasets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2971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50" b="0">
                <a:solidFill>
                  <a:srgbClr val="222B34"/>
                </a:solidFill>
              </a:defRPr>
            </a:pPr>
            <a:r>
              <a:t>Validate patterns across more cohorts and programs.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25880"/>
            <a:ext cx="342900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45152" y="150876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11223A"/>
                </a:solidFill>
              </a:defRPr>
            </a:pPr>
            <a:r>
              <a:t>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965960"/>
            <a:ext cx="2971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50" b="0">
                <a:solidFill>
                  <a:srgbClr val="222B34"/>
                </a:solidFill>
              </a:defRPr>
            </a:pPr>
            <a:r>
              <a:t>Build performance classification or prediction models.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325880"/>
            <a:ext cx="342900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39912" y="150876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11223A"/>
                </a:solidFill>
              </a:defRPr>
            </a:pPr>
            <a:r>
              <a:t>Early-warning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965960"/>
            <a:ext cx="2971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50" b="0">
                <a:solidFill>
                  <a:srgbClr val="222B34"/>
                </a:solidFill>
              </a:defRPr>
            </a:pPr>
            <a:r>
              <a:t>Flag students using multiple risk indicators.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37560"/>
            <a:ext cx="342900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352044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11223A"/>
                </a:solidFill>
              </a:defRPr>
            </a:pPr>
            <a:r>
              <a:t>Personalized recommendations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77640"/>
            <a:ext cx="2971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50" b="0">
                <a:solidFill>
                  <a:srgbClr val="222B34"/>
                </a:solidFill>
              </a:defRPr>
            </a:pPr>
            <a:r>
              <a:t>Translate patterns into individualized support plans.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337560"/>
            <a:ext cx="342900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45152" y="352044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11223A"/>
                </a:solidFill>
              </a:defRPr>
            </a:pPr>
            <a:r>
              <a:t>Interactive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977640"/>
            <a:ext cx="2971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50" b="0">
                <a:solidFill>
                  <a:srgbClr val="222B34"/>
                </a:solidFill>
              </a:defRPr>
            </a:pPr>
            <a:r>
              <a:t>Allow lecturers and administrators to drill into trends.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3337560"/>
            <a:ext cx="342900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39912" y="352044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11223A"/>
                </a:solidFill>
              </a:defRPr>
            </a:pPr>
            <a:r>
              <a:t>Real-time monitoring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977640"/>
            <a:ext cx="2971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50" b="0">
                <a:solidFill>
                  <a:srgbClr val="222B34"/>
                </a:solidFill>
              </a:defRPr>
            </a:pPr>
            <a:r>
              <a:t>Update academic risk indicators as new data arrives.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71500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50" b="1">
                <a:solidFill>
                  <a:srgbClr val="2463A6"/>
                </a:solidFill>
              </a:defRPr>
            </a:pPr>
            <a:r>
              <a:t>Priority: extend the current evidence base before making automated high-stakes decisions.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" y="6473952"/>
            <a:ext cx="10972800" cy="10972"/>
          </a:xfrm>
          <a:prstGeom prst="rect">
            <a:avLst/>
          </a:prstGeom>
          <a:solidFill>
            <a:srgbClr val="DB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>
                <a:solidFill>
                  <a:srgbClr val="5D6A77"/>
                </a:solidFill>
              </a:defRPr>
            </a:pPr>
            <a:r>
              <a:t>GROUP 9  •  Data-Driven Student Performance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51052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5D6A77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96DCE6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What did the analysis discover?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51560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700" b="0">
                <a:solidFill>
                  <a:srgbClr val="DEE7EF"/>
                </a:solidFill>
              </a:defRPr>
            </a:pPr>
            <a:r>
              <a:t>Study time showed the strongest observed relationship with final exam score (r = 0.568), followed by previous grade (r = 0.406) and attendance (r = 0.262). Students in the 6+ hour study category averaged 95.32, compared with 74.79 for the 0–2 hour category.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Why does it matter?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519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0">
                <a:solidFill>
                  <a:srgbClr val="DEE7EF"/>
                </a:solidFill>
              </a:defRPr>
            </a:pPr>
            <a:r>
              <a:t>The findings provide an evidence base for targeted academic support. With 101 students classified as At Risk, institutions can use study-time, attendance and performance indicators to prioritize monitoring and intervention.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150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1CAABE"/>
                </a:solidFill>
              </a:defRPr>
            </a:pPr>
            <a:r>
              <a:t>Turning student data into actionable academic insights.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600" b="1">
                <a:solidFill>
                  <a:srgbClr val="11223A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2463A6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337560"/>
            <a:ext cx="9966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0">
                <a:solidFill>
                  <a:srgbClr val="5D6A77"/>
                </a:solidFill>
              </a:defRPr>
            </a:pPr>
            <a:r>
              <a:t>“Turning student data into actionable academic insights.”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709160"/>
            <a:ext cx="996696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11223A"/>
                </a:solidFill>
              </a:defRPr>
            </a:pPr>
            <a:r>
              <a:rPr lang="en-US" dirty="0" err="1"/>
              <a:t>MartLabs</a:t>
            </a:r>
            <a:r>
              <a:rPr dirty="0"/>
              <a:t>  •  MUST  •  Group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50" b="0">
                <a:solidFill>
                  <a:srgbClr val="5D6A77"/>
                </a:solidFill>
              </a:defRPr>
            </a:pPr>
            <a:r>
              <a:t>Adili S. Edward  |  Joseph M. Nzije  |  Carol F. Kika  |  Frank L. Mlyakalamu  |  Athanas J. Kayombo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1694</Words>
  <Application>Microsoft Office PowerPoint</Application>
  <PresentationFormat>Widescreen</PresentationFormat>
  <Paragraphs>278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_athstack _</cp:lastModifiedBy>
  <cp:revision>5</cp:revision>
  <dcterms:created xsi:type="dcterms:W3CDTF">2013-01-27T09:14:16Z</dcterms:created>
  <dcterms:modified xsi:type="dcterms:W3CDTF">2026-08-14T08:32:54Z</dcterms:modified>
  <cp:category/>
</cp:coreProperties>
</file>